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4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4FF41"/>
                </a:solidFill>
                <a:latin typeface="Aptos"/>
              </a:defRPr>
            </a:pPr>
            <a:r>
              <a:t>GPU COMPUTE MARKETPLACE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6949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00" b="1">
                <a:solidFill>
                  <a:srgbClr val="F1F5F2"/>
                </a:solidFill>
                <a:latin typeface="Aptos"/>
              </a:defRPr>
            </a:pPr>
            <a:r>
              <a:t>TerveX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97480"/>
            <a:ext cx="6492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A3B1AB"/>
                </a:solidFill>
                <a:latin typeface="Aptos"/>
              </a:defRPr>
            </a:pPr>
            <a:r>
              <a:t>Find compute. Compare cost.</a:t>
            </a:r>
            <a:br/>
            <a:r>
              <a:t>Make the next AI workload decision clearer.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09560" y="1143000"/>
            <a:ext cx="3291840" cy="1143000"/>
          </a:xfrm>
          <a:prstGeom prst="roundRect">
            <a:avLst/>
          </a:prstGeom>
          <a:solidFill>
            <a:srgbClr val="131A1B"/>
          </a:solidFill>
          <a:ln>
            <a:solidFill>
              <a:srgbClr val="2C3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10728" y="1307592"/>
            <a:ext cx="28895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A4FF41"/>
                </a:solidFill>
                <a:latin typeface="Aptos"/>
              </a:defRPr>
            </a:pPr>
            <a:r>
              <a:t>DISCOVER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10728" y="1783080"/>
            <a:ext cx="288950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1F5F2"/>
                </a:solidFill>
                <a:latin typeface="Aptos"/>
              </a:defRPr>
            </a:pPr>
            <a:r>
              <a:t>GPU model • VRAM • region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2560320"/>
            <a:ext cx="3291840" cy="1143000"/>
          </a:xfrm>
          <a:prstGeom prst="roundRect">
            <a:avLst/>
          </a:prstGeom>
          <a:solidFill>
            <a:srgbClr val="131A1B"/>
          </a:solidFill>
          <a:ln>
            <a:solidFill>
              <a:srgbClr val="2C3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5048" y="2724912"/>
            <a:ext cx="28895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C254"/>
                </a:solidFill>
                <a:latin typeface="Aptos"/>
              </a:defRPr>
            </a:pPr>
            <a:r>
              <a:t>COMPARE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5048" y="3200400"/>
            <a:ext cx="288950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1F5F2"/>
                </a:solidFill>
                <a:latin typeface="Aptos"/>
              </a:defRPr>
            </a:pPr>
            <a:r>
              <a:t>Spot-style vs forward estimate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3977639"/>
            <a:ext cx="3291840" cy="1143000"/>
          </a:xfrm>
          <a:prstGeom prst="roundRect">
            <a:avLst/>
          </a:prstGeom>
          <a:solidFill>
            <a:srgbClr val="131A1B"/>
          </a:solidFill>
          <a:ln>
            <a:solidFill>
              <a:srgbClr val="2C3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10728" y="4142231"/>
            <a:ext cx="28895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A4FF41"/>
                </a:solidFill>
                <a:latin typeface="Aptos"/>
              </a:defRPr>
            </a:pPr>
            <a:r>
              <a:t>REQUEST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0728" y="4617720"/>
            <a:ext cx="288950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1F5F2"/>
                </a:solidFill>
                <a:latin typeface="Aptos"/>
              </a:defRPr>
            </a:pPr>
            <a:r>
              <a:t>Persist a request for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303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1F5F2"/>
                </a:solidFill>
                <a:latin typeface="Aptos"/>
              </a:defRPr>
            </a:pPr>
            <a:r>
              <a:t>Team: [ADD TEAM NAME]   |   Members: [ADD NAMES]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8978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C254"/>
                </a:solidFill>
                <a:latin typeface="Aptos"/>
              </a:defRPr>
            </a:pPr>
            <a:r>
              <a:t>Prototype: inventory, metrics and rates are simulated.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519672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A3B1AB"/>
                </a:solidFill>
                <a:latin typeface="Aptos"/>
              </a:defRPr>
            </a:pPr>
            <a:r>
              <a:t>TERVEX  •  HACKATHON PROTOTYPE  •  DEMO DATA 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9224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A4FF41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4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4FF41"/>
                </a:solidFill>
                <a:latin typeface="Aptos"/>
              </a:defRPr>
            </a:pPr>
            <a:r>
              <a:t>01 /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1F5F2"/>
                </a:solidFill>
                <a:latin typeface="Aptos"/>
              </a:defRPr>
            </a:pPr>
            <a:r>
              <a:t>GPU decisions are fragmented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81328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A3B1AB"/>
                </a:solidFill>
                <a:latin typeface="Aptos"/>
              </a:defRPr>
            </a:pPr>
            <a:r>
              <a:t>Teams need to compare more than an hourly price before selecting infrastructure.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40280"/>
            <a:ext cx="3429000" cy="2103120"/>
          </a:xfrm>
          <a:prstGeom prst="roundRect">
            <a:avLst/>
          </a:prstGeom>
          <a:solidFill>
            <a:srgbClr val="131A1B"/>
          </a:solidFill>
          <a:ln>
            <a:solidFill>
              <a:srgbClr val="2C3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404872"/>
            <a:ext cx="30266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A4FF41"/>
                </a:solidFill>
                <a:latin typeface="Aptos"/>
              </a:defRPr>
            </a:pPr>
            <a:r>
              <a:t>SCATTERED OPTIONS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880360"/>
            <a:ext cx="3026664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1F5F2"/>
                </a:solidFill>
                <a:latin typeface="Aptos"/>
              </a:defRPr>
            </a:pPr>
            <a:r>
              <a:t>Model, VRAM, interconnect and region may be presented differently across providers.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240280"/>
            <a:ext cx="3429000" cy="2103120"/>
          </a:xfrm>
          <a:prstGeom prst="roundRect">
            <a:avLst/>
          </a:prstGeom>
          <a:solidFill>
            <a:srgbClr val="131A1B"/>
          </a:solidFill>
          <a:ln>
            <a:solidFill>
              <a:srgbClr val="2C3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2404872"/>
            <a:ext cx="30266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A4FF41"/>
                </a:solidFill>
                <a:latin typeface="Aptos"/>
              </a:defRPr>
            </a:pPr>
            <a:r>
              <a:t>COST UNCERTAINTY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2880360"/>
            <a:ext cx="3026664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1F5F2"/>
                </a:solidFill>
                <a:latin typeface="Aptos"/>
              </a:defRPr>
            </a:pPr>
            <a:r>
              <a:t>Short bursts and longer commitments can have different price structures.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240280"/>
            <a:ext cx="3429000" cy="2103120"/>
          </a:xfrm>
          <a:prstGeom prst="roundRect">
            <a:avLst/>
          </a:prstGeom>
          <a:solidFill>
            <a:srgbClr val="131A1B"/>
          </a:solidFill>
          <a:ln>
            <a:solidFill>
              <a:srgbClr val="2C3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9328" y="2404872"/>
            <a:ext cx="30266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A4FF41"/>
                </a:solidFill>
                <a:latin typeface="Aptos"/>
              </a:defRPr>
            </a:pPr>
            <a:r>
              <a:t>DECISION FRICTION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9328" y="2880360"/>
            <a:ext cx="3026664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1F5F2"/>
                </a:solidFill>
                <a:latin typeface="Aptos"/>
              </a:defRPr>
            </a:pPr>
            <a:r>
              <a:t>Teams need a quick way to compare viable options before making a request.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98348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A4FF41"/>
                </a:solidFill>
                <a:latin typeface="Aptos"/>
              </a:defRPr>
            </a:pPr>
            <a:r>
              <a:t>Opportunity: one discovery and estimation flow before a buyer contacts a provider.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6519672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A3B1AB"/>
                </a:solidFill>
                <a:latin typeface="Aptos"/>
              </a:defRPr>
            </a:pPr>
            <a:r>
              <a:t>TERVEX  •  HACKATHON PROTOTYPE  •  DEMO DATA 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49224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A4FF41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4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4FF41"/>
                </a:solidFill>
                <a:latin typeface="Aptos"/>
              </a:defRPr>
            </a:pPr>
            <a:r>
              <a:t>02 /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1F5F2"/>
                </a:solidFill>
                <a:latin typeface="Aptos"/>
              </a:defRPr>
            </a:pPr>
            <a:r>
              <a:t>A clearer path from search to request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81328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A3B1AB"/>
                </a:solidFill>
                <a:latin typeface="Aptos"/>
              </a:defRPr>
            </a:pPr>
            <a:r>
              <a:t>TerveX brings GPU discovery, indicative cost comparison and request capture into one interface.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2606040" cy="2423160"/>
          </a:xfrm>
          <a:prstGeom prst="roundRect">
            <a:avLst/>
          </a:prstGeom>
          <a:solidFill>
            <a:srgbClr val="131A1B"/>
          </a:solidFill>
          <a:ln>
            <a:solidFill>
              <a:srgbClr val="2C3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313432"/>
            <a:ext cx="22037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A4FF41"/>
                </a:solidFill>
                <a:latin typeface="Aptos"/>
              </a:defRPr>
            </a:pPr>
            <a:r>
              <a:t>01  EXPLORE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788920"/>
            <a:ext cx="2203704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1F5F2"/>
                </a:solidFill>
                <a:latin typeface="Aptos"/>
              </a:defRPr>
            </a:pPr>
            <a:r>
              <a:t>Search seeded GPU listings and compare model, memory, interconnect, location and provider tier.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2148840"/>
            <a:ext cx="2606040" cy="2423160"/>
          </a:xfrm>
          <a:prstGeom prst="roundRect">
            <a:avLst/>
          </a:prstGeom>
          <a:solidFill>
            <a:srgbClr val="131A1B"/>
          </a:solidFill>
          <a:ln>
            <a:solidFill>
              <a:srgbClr val="2C3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2313432"/>
            <a:ext cx="22037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A4FF41"/>
                </a:solidFill>
                <a:latin typeface="Aptos"/>
              </a:defRPr>
            </a:pPr>
            <a:r>
              <a:t>02  ESTIMATE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0168" y="2788920"/>
            <a:ext cx="2203704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1F5F2"/>
                </a:solidFill>
                <a:latin typeface="Aptos"/>
              </a:defRPr>
            </a:pPr>
            <a:r>
              <a:t>Calculate GPU-hours and compare illustrative spot-style and forward-style totals.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148840"/>
            <a:ext cx="2606040" cy="2423160"/>
          </a:xfrm>
          <a:prstGeom prst="roundRect">
            <a:avLst/>
          </a:prstGeom>
          <a:solidFill>
            <a:srgbClr val="131A1B"/>
          </a:solidFill>
          <a:ln>
            <a:solidFill>
              <a:srgbClr val="2C3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2313432"/>
            <a:ext cx="22037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A4FF41"/>
                </a:solidFill>
                <a:latin typeface="Aptos"/>
              </a:defRPr>
            </a:pPr>
            <a:r>
              <a:t>03  SIGN 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788920"/>
            <a:ext cx="2203704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1F5F2"/>
                </a:solidFill>
                <a:latin typeface="Aptos"/>
              </a:defRPr>
            </a:pPr>
            <a:r>
              <a:t>Create a basic account using Argon2 password hashing and a time-limited JWT session.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40" y="2148840"/>
            <a:ext cx="2606040" cy="2423160"/>
          </a:xfrm>
          <a:prstGeom prst="roundRect">
            <a:avLst/>
          </a:prstGeom>
          <a:solidFill>
            <a:srgbClr val="131A1B"/>
          </a:solidFill>
          <a:ln>
            <a:solidFill>
              <a:srgbClr val="2C3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08008" y="2313432"/>
            <a:ext cx="22037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A4FF41"/>
                </a:solidFill>
                <a:latin typeface="Aptos"/>
              </a:defRPr>
            </a:pPr>
            <a:r>
              <a:t>04  REQUEST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08008" y="2788920"/>
            <a:ext cx="2203704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1F5F2"/>
                </a:solidFill>
                <a:latin typeface="Aptos"/>
              </a:defRPr>
            </a:pPr>
            <a:r>
              <a:t>Save a reservation request for review; no hardware is provisioned in this prototype.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07492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A3B1AB"/>
                </a:solidFill>
                <a:latin typeface="Aptos"/>
              </a:defRPr>
            </a:pPr>
            <a:r>
              <a:t>Designed for ML teams, AI startups, infrastructure providers and enterprise buyers.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519672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A3B1AB"/>
                </a:solidFill>
                <a:latin typeface="Aptos"/>
              </a:defRPr>
            </a:pPr>
            <a:r>
              <a:t>TERVEX  •  HACKATHON PROTOTYPE  •  DEMO DATA ONLY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9224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A4FF41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4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4FF41"/>
                </a:solidFill>
                <a:latin typeface="Aptos"/>
              </a:defRPr>
            </a:pPr>
            <a:r>
              <a:t>03 / PRODUCT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1F5F2"/>
                </a:solidFill>
                <a:latin typeface="Aptos"/>
              </a:defRPr>
            </a:pPr>
            <a:r>
              <a:t>One simple buyer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81328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A3B1AB"/>
                </a:solidFill>
                <a:latin typeface="Aptos"/>
              </a:defRPr>
            </a:pPr>
            <a:r>
              <a:t>Live demo sequence — show the current app, not a mock-up.</a:t>
            </a:r>
          </a:p>
        </p:txBody>
      </p:sp>
      <p:sp>
        <p:nvSpPr>
          <p:cNvPr id="6" name="Oval 5"/>
          <p:cNvSpPr/>
          <p:nvPr/>
        </p:nvSpPr>
        <p:spPr>
          <a:xfrm>
            <a:off x="1325880" y="2240280"/>
            <a:ext cx="713232" cy="713232"/>
          </a:xfrm>
          <a:prstGeom prst="ellipse">
            <a:avLst/>
          </a:prstGeom>
          <a:solidFill>
            <a:srgbClr val="A4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2386584"/>
            <a:ext cx="7132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A0E10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4612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1F5F2"/>
                </a:solidFill>
                <a:latin typeface="Aptos"/>
              </a:defRPr>
            </a:pPr>
            <a:r>
              <a:t>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730752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3B1AB"/>
                </a:solidFill>
                <a:latin typeface="Aptos"/>
              </a:defRPr>
            </a:pPr>
            <a:r>
              <a:t>Filter the demo inventory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414016"/>
            <a:ext cx="960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A4FF4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Oval 10"/>
          <p:cNvSpPr/>
          <p:nvPr/>
        </p:nvSpPr>
        <p:spPr>
          <a:xfrm>
            <a:off x="4160520" y="2240280"/>
            <a:ext cx="713232" cy="713232"/>
          </a:xfrm>
          <a:prstGeom prst="ellipse">
            <a:avLst/>
          </a:prstGeom>
          <a:solidFill>
            <a:srgbClr val="A4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60520" y="2386584"/>
            <a:ext cx="7132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A0E1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24612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1F5F2"/>
                </a:solidFill>
                <a:latin typeface="Aptos"/>
              </a:defRPr>
            </a:pPr>
            <a:r>
              <a:t>Compare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3730752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3B1AB"/>
                </a:solidFill>
                <a:latin typeface="Aptos"/>
              </a:defRPr>
            </a:pPr>
            <a:r>
              <a:t>Review GPU specs and prices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2414016"/>
            <a:ext cx="960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A4FF4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Oval 15"/>
          <p:cNvSpPr/>
          <p:nvPr/>
        </p:nvSpPr>
        <p:spPr>
          <a:xfrm>
            <a:off x="6995160" y="2240280"/>
            <a:ext cx="713232" cy="713232"/>
          </a:xfrm>
          <a:prstGeom prst="ellipse">
            <a:avLst/>
          </a:prstGeom>
          <a:solidFill>
            <a:srgbClr val="A4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95160" y="2386584"/>
            <a:ext cx="7132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A0E1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24612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1F5F2"/>
                </a:solidFill>
                <a:latin typeface="Aptos"/>
              </a:defRPr>
            </a:pPr>
            <a:r>
              <a:t>Estimate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730752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3B1AB"/>
                </a:solidFill>
                <a:latin typeface="Aptos"/>
              </a:defRPr>
            </a:pPr>
            <a:r>
              <a:t>Try 2 × H100 for 10 hours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2414016"/>
            <a:ext cx="960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A4FF4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Oval 20"/>
          <p:cNvSpPr/>
          <p:nvPr/>
        </p:nvSpPr>
        <p:spPr>
          <a:xfrm>
            <a:off x="9829800" y="2240280"/>
            <a:ext cx="713232" cy="713232"/>
          </a:xfrm>
          <a:prstGeom prst="ellipse">
            <a:avLst/>
          </a:prstGeom>
          <a:solidFill>
            <a:srgbClr val="A4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29800" y="2386584"/>
            <a:ext cx="7132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A0E1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324612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1F5F2"/>
                </a:solidFill>
                <a:latin typeface="Aptos"/>
              </a:defRPr>
            </a:pPr>
            <a:r>
              <a:t>Request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3730752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3B1AB"/>
                </a:solidFill>
                <a:latin typeface="Aptos"/>
              </a:defRPr>
            </a:pPr>
            <a:r>
              <a:t>Submit for pending review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965960" y="4800600"/>
            <a:ext cx="8138160" cy="822960"/>
          </a:xfrm>
          <a:prstGeom prst="roundRect">
            <a:avLst/>
          </a:prstGeom>
          <a:solidFill>
            <a:srgbClr val="131A1B"/>
          </a:solidFill>
          <a:ln>
            <a:solidFill>
              <a:srgbClr val="2C3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67128" y="4965192"/>
            <a:ext cx="77358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C254"/>
                </a:solidFill>
                <a:latin typeface="Aptos"/>
              </a:defRPr>
            </a:pPr>
            <a:r>
              <a:t>EXAMPLE ESTIMATE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67128" y="5440680"/>
            <a:ext cx="7735824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1F5F2"/>
                </a:solidFill>
                <a:latin typeface="Aptos"/>
              </a:defRPr>
            </a:pPr>
            <a:r>
              <a:t>2 GPUs × 10 hours × $2.24 = $44.80 illustrative H100 spot estimate.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6519672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A3B1AB"/>
                </a:solidFill>
                <a:latin typeface="Aptos"/>
              </a:defRPr>
            </a:pPr>
            <a:r>
              <a:t>TERVEX  •  HACKATHON PROTOTYPE  •  DEMO DATA ONLY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9224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A4FF41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4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4FF41"/>
                </a:solidFill>
                <a:latin typeface="Aptos"/>
              </a:defRPr>
            </a:pPr>
            <a:r>
              <a:t>04 /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1F5F2"/>
                </a:solidFill>
                <a:latin typeface="Aptos"/>
              </a:defRPr>
            </a:pPr>
            <a:r>
              <a:t>A small, explainable full-stack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81328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A3B1AB"/>
                </a:solidFill>
                <a:latin typeface="Aptos"/>
              </a:defRPr>
            </a:pPr>
            <a:r>
              <a:t>Separate frontend, API and persistence layers keep the demo easy to run and extend.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48840"/>
            <a:ext cx="2834640" cy="1828800"/>
          </a:xfrm>
          <a:prstGeom prst="roundRect">
            <a:avLst/>
          </a:prstGeom>
          <a:solidFill>
            <a:srgbClr val="131A1B"/>
          </a:solidFill>
          <a:ln>
            <a:solidFill>
              <a:srgbClr val="2C3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313432"/>
            <a:ext cx="24323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A4FF41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788920"/>
            <a:ext cx="2432304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1F5F2"/>
                </a:solidFill>
                <a:latin typeface="Aptos"/>
              </a:defRPr>
            </a:pPr>
            <a:r>
              <a:t>React 19 • TypeScript</a:t>
            </a:r>
            <a:br/>
            <a:r>
              <a:t>Vite • Tailwind CSS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75887" y="2788920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A4FF4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148840"/>
            <a:ext cx="3017520" cy="1828800"/>
          </a:xfrm>
          <a:prstGeom prst="roundRect">
            <a:avLst/>
          </a:prstGeom>
          <a:solidFill>
            <a:srgbClr val="131A1B"/>
          </a:solidFill>
          <a:ln>
            <a:solidFill>
              <a:srgbClr val="2C3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2313432"/>
            <a:ext cx="26151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A4FF41"/>
                </a:solidFill>
                <a:latin typeface="Aptos"/>
              </a:defRPr>
            </a:pPr>
            <a:r>
              <a:t>REST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788920"/>
            <a:ext cx="2615184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1F5F2"/>
                </a:solidFill>
                <a:latin typeface="Aptos"/>
              </a:defRPr>
            </a:pPr>
            <a:r>
              <a:t>Rust • Axum • Tokio</a:t>
            </a:r>
            <a:br/>
            <a:r>
              <a:t>Validation • quote logic • JWT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2788920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A4FF4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2148840"/>
            <a:ext cx="2971800" cy="1828800"/>
          </a:xfrm>
          <a:prstGeom prst="roundRect">
            <a:avLst/>
          </a:prstGeom>
          <a:solidFill>
            <a:srgbClr val="131A1B"/>
          </a:solidFill>
          <a:ln>
            <a:solidFill>
              <a:srgbClr val="2C3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5048" y="2313432"/>
            <a:ext cx="25694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A4FF41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2788920"/>
            <a:ext cx="2569464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1F5F2"/>
                </a:solidFill>
                <a:latin typeface="Aptos"/>
              </a:defRPr>
            </a:pPr>
            <a:r>
              <a:t>SQLite • SQLx</a:t>
            </a:r>
            <a:br/>
            <a:r>
              <a:t>Listings • requests • accounts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70916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A3B1AB"/>
                </a:solidFill>
                <a:latin typeface="Aptos"/>
              </a:defRPr>
            </a:pPr>
            <a:r>
              <a:t>Includes local Windows instructions, Docker Compose option, PowerShell smoke tests, GitHub Actions CI and API documentation.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6519672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A3B1AB"/>
                </a:solidFill>
                <a:latin typeface="Aptos"/>
              </a:defRPr>
            </a:pPr>
            <a:r>
              <a:t>TERVEX  •  HACKATHON PROTOTYPE  •  DEMO DATA ONLY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9224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A4FF41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4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4FF41"/>
                </a:solidFill>
                <a:latin typeface="Aptos"/>
              </a:defRPr>
            </a:pPr>
            <a:r>
              <a:t>05 / TRUST &amp; TRANSPARENCY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1F5F2"/>
                </a:solidFill>
                <a:latin typeface="Aptos"/>
              </a:defRPr>
            </a:pPr>
            <a:r>
              <a:t>Clear boundaries are part of the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81328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A3B1AB"/>
                </a:solidFill>
                <a:latin typeface="Aptos"/>
              </a:defRPr>
            </a:pPr>
            <a:r>
              <a:t>The submission distinguishes implemented functionality from future integrations.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2880360"/>
          </a:xfrm>
          <a:prstGeom prst="roundRect">
            <a:avLst/>
          </a:prstGeom>
          <a:solidFill>
            <a:srgbClr val="131A1B"/>
          </a:solidFill>
          <a:ln>
            <a:solidFill>
              <a:srgbClr val="2C3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176272"/>
            <a:ext cx="471830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A4FF41"/>
                </a:solidFill>
                <a:latin typeface="Aptos"/>
              </a:defRPr>
            </a:pPr>
            <a:r>
              <a:t>IMPLEMENTED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651760"/>
            <a:ext cx="4718303" cy="2130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1F5F2"/>
                </a:solidFill>
                <a:latin typeface="Aptos"/>
              </a:defRPr>
            </a:pPr>
            <a:r>
              <a:t>• Searchable seeded GPU inventory</a:t>
            </a:r>
            <a:br/>
            <a:r>
              <a:t>• Indicative quote endpoint</a:t>
            </a:r>
            <a:br/>
            <a:r>
              <a:t>• SQLite request persistence</a:t>
            </a:r>
            <a:br/>
            <a:r>
              <a:t>• Basic register/login and JWT</a:t>
            </a:r>
            <a:br/>
            <a:r>
              <a:t>• Provider/enterprise inquiry forms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011680"/>
            <a:ext cx="5120640" cy="2880360"/>
          </a:xfrm>
          <a:prstGeom prst="roundRect">
            <a:avLst/>
          </a:prstGeom>
          <a:solidFill>
            <a:srgbClr val="131A1B"/>
          </a:solidFill>
          <a:ln>
            <a:solidFill>
              <a:srgbClr val="2C3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2176272"/>
            <a:ext cx="471830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C254"/>
                </a:solidFill>
                <a:latin typeface="Aptos"/>
              </a:defRPr>
            </a:pPr>
            <a:r>
              <a:t>NOT IMPLEMENTED YET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2651760"/>
            <a:ext cx="4718303" cy="2130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1F5F2"/>
                </a:solidFill>
                <a:latin typeface="Aptos"/>
              </a:defRPr>
            </a:pPr>
            <a:r>
              <a:t>• Live provider inventory or telemetry</a:t>
            </a:r>
            <a:br/>
            <a:r>
              <a:t>• GPU scheduling/provisioning</a:t>
            </a:r>
            <a:br/>
            <a:r>
              <a:t>• Payments, escrow or contract execution</a:t>
            </a:r>
            <a:br/>
            <a:r>
              <a:t>• Provider verification or SLA enforcement</a:t>
            </a:r>
            <a:br/>
            <a:r>
              <a:t>• Production-grade authorization controls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3492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C254"/>
                </a:solidFill>
                <a:latin typeface="Aptos"/>
              </a:defRPr>
            </a:pPr>
            <a:r>
              <a:t>Demo data and pricing are illustrative — not live inventory, verified availability or binding offers.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6519672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A3B1AB"/>
                </a:solidFill>
                <a:latin typeface="Aptos"/>
              </a:defRPr>
            </a:pPr>
            <a:r>
              <a:t>TERVEX  •  HACKATHON PROTOTYPE  •  DEMO DATA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9224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A4FF41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4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4FF41"/>
                </a:solidFill>
                <a:latin typeface="Aptos"/>
              </a:defRPr>
            </a:pPr>
            <a:r>
              <a:t>06 /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1F5F2"/>
                </a:solidFill>
                <a:latin typeface="Aptos"/>
              </a:defRPr>
            </a:pPr>
            <a:r>
              <a:t>From prototype to a real marketplace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81328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A3B1AB"/>
                </a:solidFill>
                <a:latin typeface="Aptos"/>
              </a:defRPr>
            </a:pPr>
            <a:r>
              <a:t>Build trust and supply-side integration before automating money or hardware.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57400"/>
            <a:ext cx="2606040" cy="2286000"/>
          </a:xfrm>
          <a:prstGeom prst="roundRect">
            <a:avLst/>
          </a:prstGeom>
          <a:solidFill>
            <a:srgbClr val="131A1B"/>
          </a:solidFill>
          <a:ln>
            <a:solidFill>
              <a:srgbClr val="2C3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221992"/>
            <a:ext cx="22037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A4FF41"/>
                </a:solidFill>
                <a:latin typeface="Aptos"/>
              </a:defRPr>
            </a:pPr>
            <a:r>
              <a:t>NEXT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697480"/>
            <a:ext cx="2203704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1F5F2"/>
                </a:solidFill>
                <a:latin typeface="Aptos"/>
              </a:defRPr>
            </a:pPr>
            <a:r>
              <a:t>Provider-owned listings, role authorization, and user-owned request history.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2057400"/>
            <a:ext cx="2606040" cy="2286000"/>
          </a:xfrm>
          <a:prstGeom prst="roundRect">
            <a:avLst/>
          </a:prstGeom>
          <a:solidFill>
            <a:srgbClr val="131A1B"/>
          </a:solidFill>
          <a:ln>
            <a:solidFill>
              <a:srgbClr val="2C3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21608" y="2221992"/>
            <a:ext cx="22037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A4FF41"/>
                </a:solidFill>
                <a:latin typeface="Aptos"/>
              </a:defRPr>
            </a:pPr>
            <a:r>
              <a:t>NEXT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21608" y="2697480"/>
            <a:ext cx="2203704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1F5F2"/>
                </a:solidFill>
                <a:latin typeface="Aptos"/>
              </a:defRPr>
            </a:pPr>
            <a:r>
              <a:t>Provider API integration and timestamped availability checks.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057400"/>
            <a:ext cx="2606040" cy="2286000"/>
          </a:xfrm>
          <a:prstGeom prst="roundRect">
            <a:avLst/>
          </a:prstGeom>
          <a:solidFill>
            <a:srgbClr val="131A1B"/>
          </a:solidFill>
          <a:ln>
            <a:solidFill>
              <a:srgbClr val="2C3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2221992"/>
            <a:ext cx="22037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A4FF41"/>
                </a:solidFill>
                <a:latin typeface="Aptos"/>
              </a:defRPr>
            </a:pPr>
            <a:r>
              <a:t>NEXT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2697480"/>
            <a:ext cx="2203704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1F5F2"/>
                </a:solidFill>
                <a:latin typeface="Aptos"/>
              </a:defRPr>
            </a:pPr>
            <a:r>
              <a:t>Transactional allocation, idempotency, expiry and failure recovery.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2057400"/>
            <a:ext cx="2331720" cy="2286000"/>
          </a:xfrm>
          <a:prstGeom prst="roundRect">
            <a:avLst/>
          </a:prstGeom>
          <a:solidFill>
            <a:srgbClr val="131A1B"/>
          </a:solidFill>
          <a:ln>
            <a:solidFill>
              <a:srgbClr val="2C3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99448" y="2221992"/>
            <a:ext cx="19293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A4FF41"/>
                </a:solidFill>
                <a:latin typeface="Aptos"/>
              </a:defRPr>
            </a:pPr>
            <a:r>
              <a:t>NEXT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99448" y="2697480"/>
            <a:ext cx="1929384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1F5F2"/>
                </a:solidFill>
                <a:latin typeface="Aptos"/>
              </a:defRPr>
            </a:pPr>
            <a:r>
              <a:t>Secure billing, observability, SLA measurement and compliance review.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029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A4FF41"/>
                </a:solidFill>
                <a:latin typeface="Aptos"/>
              </a:defRPr>
            </a:pPr>
            <a:r>
              <a:t>Validation goals: reduce comparison time, improve quote completion and measure provider-confirmed estimate accuracy.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519672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A3B1AB"/>
                </a:solidFill>
                <a:latin typeface="Aptos"/>
              </a:defRPr>
            </a:pPr>
            <a:r>
              <a:t>TERVEX  •  HACKATHON PROTOTYPE  •  DEMO DATA ONLY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9224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A4FF41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4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31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4FF41"/>
                </a:solidFill>
                <a:latin typeface="Aptos"/>
              </a:defRPr>
            </a:pPr>
            <a:r>
              <a:t>TERVEX / NEXT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9601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1F5F2"/>
                </a:solidFill>
                <a:latin typeface="Aptos"/>
              </a:defRPr>
            </a:pPr>
            <a:r>
              <a:t>Make GPU choice easier.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51760"/>
            <a:ext cx="9692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A3B1AB"/>
                </a:solidFill>
                <a:latin typeface="Aptos"/>
              </a:defRPr>
            </a:pPr>
            <a:r>
              <a:t>One workflow for discovering compute, comparing indicative costs and starting a request.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977639"/>
            <a:ext cx="4846320" cy="1143000"/>
          </a:xfrm>
          <a:prstGeom prst="roundRect">
            <a:avLst/>
          </a:prstGeom>
          <a:solidFill>
            <a:srgbClr val="131A1B"/>
          </a:solidFill>
          <a:ln>
            <a:solidFill>
              <a:srgbClr val="2C3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4142231"/>
            <a:ext cx="444398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A4FF41"/>
                </a:solidFill>
                <a:latin typeface="Aptos"/>
              </a:defRPr>
            </a:pPr>
            <a:r>
              <a:t>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617720"/>
            <a:ext cx="4443983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1F5F2"/>
                </a:solidFill>
                <a:latin typeface="Aptos"/>
              </a:defRPr>
            </a:pPr>
            <a:r>
              <a:t>We want feedback from GPU buyers and providers on the comparison flow and real availability requirements.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3977639"/>
            <a:ext cx="4846320" cy="1143000"/>
          </a:xfrm>
          <a:prstGeom prst="roundRect">
            <a:avLst/>
          </a:prstGeom>
          <a:solidFill>
            <a:srgbClr val="131A1B"/>
          </a:solidFill>
          <a:ln>
            <a:solidFill>
              <a:srgbClr val="2C3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81928" y="4142231"/>
            <a:ext cx="444398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C254"/>
                </a:solidFill>
                <a:latin typeface="Aptos"/>
              </a:defRPr>
            </a:pPr>
            <a:r>
              <a:t>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1928" y="4617720"/>
            <a:ext cx="4443983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1F5F2"/>
                </a:solidFill>
                <a:latin typeface="Aptos"/>
              </a:defRPr>
            </a:pPr>
            <a:r>
              <a:t>[ADD TEAM NAME]  •  [ADD MEMBERS]  •  [ADD REPOSITORY URL]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7150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C254"/>
                </a:solidFill>
                <a:latin typeface="Aptos"/>
              </a:defRPr>
            </a:pPr>
            <a:r>
              <a:t>Thank you  |  Demo inventory and rates are simulated.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6519672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A3B1AB"/>
                </a:solidFill>
                <a:latin typeface="Aptos"/>
              </a:defRPr>
            </a:pPr>
            <a:r>
              <a:t>TERVEX  •  HACKATHON PROTOTYPE  •  DEMO DATA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9224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A4FF41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TerveX Hackathon Pitch</dc:title>
  <dc:subject>GPU compute marketplace prototype</dc:subject>
  <dc:creator>TerveX Team (edit with team details)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